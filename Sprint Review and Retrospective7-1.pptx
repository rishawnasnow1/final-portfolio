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531416-4414-42FF-9E04-C47A43F935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DE6ED2F-0C72-4132-A214-CD6AC2787C2D}">
      <dgm:prSet/>
      <dgm:spPr/>
      <dgm:t>
        <a:bodyPr/>
        <a:lstStyle/>
        <a:p>
          <a:pPr>
            <a:defRPr cap="all"/>
          </a:pPr>
          <a:r>
            <a:rPr lang="en-US"/>
            <a:t>Sprint Planning: Select tasks from backlog </a:t>
          </a:r>
        </a:p>
      </dgm:t>
    </dgm:pt>
    <dgm:pt modelId="{E2E3D4C4-9B17-416E-A702-244DC8F022A4}" type="parTrans" cxnId="{44329DCF-A163-46AE-B806-6C2FF77F33AD}">
      <dgm:prSet/>
      <dgm:spPr/>
      <dgm:t>
        <a:bodyPr/>
        <a:lstStyle/>
        <a:p>
          <a:endParaRPr lang="en-US"/>
        </a:p>
      </dgm:t>
    </dgm:pt>
    <dgm:pt modelId="{5A0F7057-A473-4F0B-8592-4DE14AEC8938}" type="sibTrans" cxnId="{44329DCF-A163-46AE-B806-6C2FF77F33AD}">
      <dgm:prSet/>
      <dgm:spPr/>
      <dgm:t>
        <a:bodyPr/>
        <a:lstStyle/>
        <a:p>
          <a:endParaRPr lang="en-US"/>
        </a:p>
      </dgm:t>
    </dgm:pt>
    <dgm:pt modelId="{5E2B9250-EE13-493F-AD97-43413240C3F6}">
      <dgm:prSet/>
      <dgm:spPr/>
      <dgm:t>
        <a:bodyPr/>
        <a:lstStyle/>
        <a:p>
          <a:pPr>
            <a:defRPr cap="all"/>
          </a:pPr>
          <a:r>
            <a:rPr lang="en-US"/>
            <a:t>Development: Build features in sprints</a:t>
          </a:r>
        </a:p>
      </dgm:t>
    </dgm:pt>
    <dgm:pt modelId="{91921358-4EB5-4C6C-A31C-7E1F586BCE55}" type="parTrans" cxnId="{1263065E-6FAE-41DF-9BB1-022A54F54F8F}">
      <dgm:prSet/>
      <dgm:spPr/>
      <dgm:t>
        <a:bodyPr/>
        <a:lstStyle/>
        <a:p>
          <a:endParaRPr lang="en-US"/>
        </a:p>
      </dgm:t>
    </dgm:pt>
    <dgm:pt modelId="{91686F79-E22C-4EBB-8C43-349E690B5A0E}" type="sibTrans" cxnId="{1263065E-6FAE-41DF-9BB1-022A54F54F8F}">
      <dgm:prSet/>
      <dgm:spPr/>
      <dgm:t>
        <a:bodyPr/>
        <a:lstStyle/>
        <a:p>
          <a:endParaRPr lang="en-US"/>
        </a:p>
      </dgm:t>
    </dgm:pt>
    <dgm:pt modelId="{204DD5F7-EB8D-4F86-AD12-3E6854D0EC0A}">
      <dgm:prSet/>
      <dgm:spPr/>
      <dgm:t>
        <a:bodyPr/>
        <a:lstStyle/>
        <a:p>
          <a:pPr>
            <a:defRPr cap="all"/>
          </a:pPr>
          <a:r>
            <a:rPr lang="en-US"/>
            <a:t>Testing: Continuous validation</a:t>
          </a:r>
        </a:p>
      </dgm:t>
    </dgm:pt>
    <dgm:pt modelId="{53DAE7AF-D1D2-47EC-9824-FDBDA79C1DC7}" type="parTrans" cxnId="{9C874746-C30F-4709-A0C5-7492F81FC00B}">
      <dgm:prSet/>
      <dgm:spPr/>
      <dgm:t>
        <a:bodyPr/>
        <a:lstStyle/>
        <a:p>
          <a:endParaRPr lang="en-US"/>
        </a:p>
      </dgm:t>
    </dgm:pt>
    <dgm:pt modelId="{6535AB7B-C856-49AB-8239-A82F5AC8B99F}" type="sibTrans" cxnId="{9C874746-C30F-4709-A0C5-7492F81FC00B}">
      <dgm:prSet/>
      <dgm:spPr/>
      <dgm:t>
        <a:bodyPr/>
        <a:lstStyle/>
        <a:p>
          <a:endParaRPr lang="en-US"/>
        </a:p>
      </dgm:t>
    </dgm:pt>
    <dgm:pt modelId="{9C788625-E7D4-4663-A996-D8557E61BA5C}">
      <dgm:prSet/>
      <dgm:spPr/>
      <dgm:t>
        <a:bodyPr/>
        <a:lstStyle/>
        <a:p>
          <a:pPr>
            <a:defRPr cap="all"/>
          </a:pPr>
          <a:r>
            <a:rPr lang="en-US"/>
            <a:t>Review: Present completed work</a:t>
          </a:r>
        </a:p>
      </dgm:t>
    </dgm:pt>
    <dgm:pt modelId="{81711E51-3B4B-4AF5-8755-A83557128799}" type="parTrans" cxnId="{1C774E04-CD07-4CA5-8E9C-2C821D92586C}">
      <dgm:prSet/>
      <dgm:spPr/>
      <dgm:t>
        <a:bodyPr/>
        <a:lstStyle/>
        <a:p>
          <a:endParaRPr lang="en-US"/>
        </a:p>
      </dgm:t>
    </dgm:pt>
    <dgm:pt modelId="{F3F988AF-54F6-462E-B128-B345A1AE00D8}" type="sibTrans" cxnId="{1C774E04-CD07-4CA5-8E9C-2C821D92586C}">
      <dgm:prSet/>
      <dgm:spPr/>
      <dgm:t>
        <a:bodyPr/>
        <a:lstStyle/>
        <a:p>
          <a:endParaRPr lang="en-US"/>
        </a:p>
      </dgm:t>
    </dgm:pt>
    <dgm:pt modelId="{53B0DED6-1CC8-4145-9A93-02C24D7767CF}">
      <dgm:prSet/>
      <dgm:spPr/>
      <dgm:t>
        <a:bodyPr/>
        <a:lstStyle/>
        <a:p>
          <a:pPr>
            <a:defRPr cap="all"/>
          </a:pPr>
          <a:r>
            <a:rPr lang="en-US"/>
            <a:t>Retrospective: Improve process</a:t>
          </a:r>
        </a:p>
      </dgm:t>
    </dgm:pt>
    <dgm:pt modelId="{C2B9DE1E-65D9-4B9B-AAF7-33DC1D0B60C2}" type="parTrans" cxnId="{88A0DAE9-87DD-4393-B2DC-D0799ED93A25}">
      <dgm:prSet/>
      <dgm:spPr/>
      <dgm:t>
        <a:bodyPr/>
        <a:lstStyle/>
        <a:p>
          <a:endParaRPr lang="en-US"/>
        </a:p>
      </dgm:t>
    </dgm:pt>
    <dgm:pt modelId="{28DF41C7-DD17-4412-8905-DA103E40AA0A}" type="sibTrans" cxnId="{88A0DAE9-87DD-4393-B2DC-D0799ED93A25}">
      <dgm:prSet/>
      <dgm:spPr/>
      <dgm:t>
        <a:bodyPr/>
        <a:lstStyle/>
        <a:p>
          <a:endParaRPr lang="en-US"/>
        </a:p>
      </dgm:t>
    </dgm:pt>
    <dgm:pt modelId="{899E6CE7-387A-4652-8080-69245D453394}" type="pres">
      <dgm:prSet presAssocID="{29531416-4414-42FF-9E04-C47A43F93579}" presName="root" presStyleCnt="0">
        <dgm:presLayoutVars>
          <dgm:dir/>
          <dgm:resizeHandles val="exact"/>
        </dgm:presLayoutVars>
      </dgm:prSet>
      <dgm:spPr/>
    </dgm:pt>
    <dgm:pt modelId="{674A8730-4CB2-46AF-A2FA-5E8A73FE3DFD}" type="pres">
      <dgm:prSet presAssocID="{DDE6ED2F-0C72-4132-A214-CD6AC2787C2D}" presName="compNode" presStyleCnt="0"/>
      <dgm:spPr/>
    </dgm:pt>
    <dgm:pt modelId="{1F0FE994-98E8-459D-875E-A0A2BBCF8E7B}" type="pres">
      <dgm:prSet presAssocID="{DDE6ED2F-0C72-4132-A214-CD6AC2787C2D}" presName="iconBgRect" presStyleLbl="bgShp" presStyleIdx="0" presStyleCnt="5"/>
      <dgm:spPr/>
    </dgm:pt>
    <dgm:pt modelId="{6FD36B1F-4BF0-4B83-A02C-CD7D95490C00}" type="pres">
      <dgm:prSet presAssocID="{DDE6ED2F-0C72-4132-A214-CD6AC2787C2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D575340A-AF00-4F37-A17B-FA1B62EFB01C}" type="pres">
      <dgm:prSet presAssocID="{DDE6ED2F-0C72-4132-A214-CD6AC2787C2D}" presName="spaceRect" presStyleCnt="0"/>
      <dgm:spPr/>
    </dgm:pt>
    <dgm:pt modelId="{4B8F4C3C-E2AE-4A38-832C-D3473003EBA4}" type="pres">
      <dgm:prSet presAssocID="{DDE6ED2F-0C72-4132-A214-CD6AC2787C2D}" presName="textRect" presStyleLbl="revTx" presStyleIdx="0" presStyleCnt="5">
        <dgm:presLayoutVars>
          <dgm:chMax val="1"/>
          <dgm:chPref val="1"/>
        </dgm:presLayoutVars>
      </dgm:prSet>
      <dgm:spPr/>
    </dgm:pt>
    <dgm:pt modelId="{EC2FF576-B1F4-4D48-B00A-AF9D9C1697C6}" type="pres">
      <dgm:prSet presAssocID="{5A0F7057-A473-4F0B-8592-4DE14AEC8938}" presName="sibTrans" presStyleCnt="0"/>
      <dgm:spPr/>
    </dgm:pt>
    <dgm:pt modelId="{EAB03A2A-3799-4B48-9B56-1B5C15C14E22}" type="pres">
      <dgm:prSet presAssocID="{5E2B9250-EE13-493F-AD97-43413240C3F6}" presName="compNode" presStyleCnt="0"/>
      <dgm:spPr/>
    </dgm:pt>
    <dgm:pt modelId="{55BFA9B3-092E-4AAD-B2E3-1D33980362C9}" type="pres">
      <dgm:prSet presAssocID="{5E2B9250-EE13-493F-AD97-43413240C3F6}" presName="iconBgRect" presStyleLbl="bgShp" presStyleIdx="1" presStyleCnt="5"/>
      <dgm:spPr/>
    </dgm:pt>
    <dgm:pt modelId="{BA0C24CB-F53F-4F0A-B3AF-5B2F7A65B303}" type="pres">
      <dgm:prSet presAssocID="{5E2B9250-EE13-493F-AD97-43413240C3F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66CCADB-AAA7-4983-85BB-327ACA0B19DF}" type="pres">
      <dgm:prSet presAssocID="{5E2B9250-EE13-493F-AD97-43413240C3F6}" presName="spaceRect" presStyleCnt="0"/>
      <dgm:spPr/>
    </dgm:pt>
    <dgm:pt modelId="{5E385C0E-2619-4475-B59B-31BFE884EF35}" type="pres">
      <dgm:prSet presAssocID="{5E2B9250-EE13-493F-AD97-43413240C3F6}" presName="textRect" presStyleLbl="revTx" presStyleIdx="1" presStyleCnt="5">
        <dgm:presLayoutVars>
          <dgm:chMax val="1"/>
          <dgm:chPref val="1"/>
        </dgm:presLayoutVars>
      </dgm:prSet>
      <dgm:spPr/>
    </dgm:pt>
    <dgm:pt modelId="{8F6B1A29-4753-4572-8BB4-311B38501359}" type="pres">
      <dgm:prSet presAssocID="{91686F79-E22C-4EBB-8C43-349E690B5A0E}" presName="sibTrans" presStyleCnt="0"/>
      <dgm:spPr/>
    </dgm:pt>
    <dgm:pt modelId="{32314FD7-61D7-418C-B3C6-6E9C32D57CD3}" type="pres">
      <dgm:prSet presAssocID="{204DD5F7-EB8D-4F86-AD12-3E6854D0EC0A}" presName="compNode" presStyleCnt="0"/>
      <dgm:spPr/>
    </dgm:pt>
    <dgm:pt modelId="{81D420C6-FEBA-48BA-81B9-0FFAB866BFD4}" type="pres">
      <dgm:prSet presAssocID="{204DD5F7-EB8D-4F86-AD12-3E6854D0EC0A}" presName="iconBgRect" presStyleLbl="bgShp" presStyleIdx="2" presStyleCnt="5"/>
      <dgm:spPr/>
    </dgm:pt>
    <dgm:pt modelId="{36FF686F-6508-4756-9544-C00E215F0A7F}" type="pres">
      <dgm:prSet presAssocID="{204DD5F7-EB8D-4F86-AD12-3E6854D0EC0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012BC984-EDC4-4DF6-A18A-5F573B4CB9CA}" type="pres">
      <dgm:prSet presAssocID="{204DD5F7-EB8D-4F86-AD12-3E6854D0EC0A}" presName="spaceRect" presStyleCnt="0"/>
      <dgm:spPr/>
    </dgm:pt>
    <dgm:pt modelId="{BF0EA7D1-AB97-40A6-BD65-CF00BF524471}" type="pres">
      <dgm:prSet presAssocID="{204DD5F7-EB8D-4F86-AD12-3E6854D0EC0A}" presName="textRect" presStyleLbl="revTx" presStyleIdx="2" presStyleCnt="5">
        <dgm:presLayoutVars>
          <dgm:chMax val="1"/>
          <dgm:chPref val="1"/>
        </dgm:presLayoutVars>
      </dgm:prSet>
      <dgm:spPr/>
    </dgm:pt>
    <dgm:pt modelId="{D0662E98-AB0B-4694-852C-960A96C85A52}" type="pres">
      <dgm:prSet presAssocID="{6535AB7B-C856-49AB-8239-A82F5AC8B99F}" presName="sibTrans" presStyleCnt="0"/>
      <dgm:spPr/>
    </dgm:pt>
    <dgm:pt modelId="{3DD58ED7-4BC7-48EA-B700-4840942558D2}" type="pres">
      <dgm:prSet presAssocID="{9C788625-E7D4-4663-A996-D8557E61BA5C}" presName="compNode" presStyleCnt="0"/>
      <dgm:spPr/>
    </dgm:pt>
    <dgm:pt modelId="{18A43A71-B884-49FF-A45F-46F937853031}" type="pres">
      <dgm:prSet presAssocID="{9C788625-E7D4-4663-A996-D8557E61BA5C}" presName="iconBgRect" presStyleLbl="bgShp" presStyleIdx="3" presStyleCnt="5"/>
      <dgm:spPr/>
    </dgm:pt>
    <dgm:pt modelId="{79384776-570E-4F04-B317-78DD7C3D5A97}" type="pres">
      <dgm:prSet presAssocID="{9C788625-E7D4-4663-A996-D8557E61BA5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AE1415-283E-4C0B-BBD6-8278A9DDD561}" type="pres">
      <dgm:prSet presAssocID="{9C788625-E7D4-4663-A996-D8557E61BA5C}" presName="spaceRect" presStyleCnt="0"/>
      <dgm:spPr/>
    </dgm:pt>
    <dgm:pt modelId="{25CD36D1-BE62-46E6-91A8-3F6BA74B6295}" type="pres">
      <dgm:prSet presAssocID="{9C788625-E7D4-4663-A996-D8557E61BA5C}" presName="textRect" presStyleLbl="revTx" presStyleIdx="3" presStyleCnt="5">
        <dgm:presLayoutVars>
          <dgm:chMax val="1"/>
          <dgm:chPref val="1"/>
        </dgm:presLayoutVars>
      </dgm:prSet>
      <dgm:spPr/>
    </dgm:pt>
    <dgm:pt modelId="{3D87655D-112B-4E57-ABAF-E6125555DB1A}" type="pres">
      <dgm:prSet presAssocID="{F3F988AF-54F6-462E-B128-B345A1AE00D8}" presName="sibTrans" presStyleCnt="0"/>
      <dgm:spPr/>
    </dgm:pt>
    <dgm:pt modelId="{EA5E641B-0A5F-4926-9D76-5718CBA15030}" type="pres">
      <dgm:prSet presAssocID="{53B0DED6-1CC8-4145-9A93-02C24D7767CF}" presName="compNode" presStyleCnt="0"/>
      <dgm:spPr/>
    </dgm:pt>
    <dgm:pt modelId="{74AB08F4-83A8-4C96-AD75-A5662E08A407}" type="pres">
      <dgm:prSet presAssocID="{53B0DED6-1CC8-4145-9A93-02C24D7767CF}" presName="iconBgRect" presStyleLbl="bgShp" presStyleIdx="4" presStyleCnt="5"/>
      <dgm:spPr/>
    </dgm:pt>
    <dgm:pt modelId="{86B17304-D703-45B3-89A5-F33DEFEF7D20}" type="pres">
      <dgm:prSet presAssocID="{53B0DED6-1CC8-4145-9A93-02C24D7767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16B0EE55-8AAC-4302-9B9C-062E4E80E91B}" type="pres">
      <dgm:prSet presAssocID="{53B0DED6-1CC8-4145-9A93-02C24D7767CF}" presName="spaceRect" presStyleCnt="0"/>
      <dgm:spPr/>
    </dgm:pt>
    <dgm:pt modelId="{9CD8B917-CF69-4B71-B429-45D5A8FE6D57}" type="pres">
      <dgm:prSet presAssocID="{53B0DED6-1CC8-4145-9A93-02C24D7767C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C774E04-CD07-4CA5-8E9C-2C821D92586C}" srcId="{29531416-4414-42FF-9E04-C47A43F93579}" destId="{9C788625-E7D4-4663-A996-D8557E61BA5C}" srcOrd="3" destOrd="0" parTransId="{81711E51-3B4B-4AF5-8755-A83557128799}" sibTransId="{F3F988AF-54F6-462E-B128-B345A1AE00D8}"/>
    <dgm:cxn modelId="{91579913-9A04-44DA-9278-551A19F17F66}" type="presOf" srcId="{DDE6ED2F-0C72-4132-A214-CD6AC2787C2D}" destId="{4B8F4C3C-E2AE-4A38-832C-D3473003EBA4}" srcOrd="0" destOrd="0" presId="urn:microsoft.com/office/officeart/2018/5/layout/IconCircleLabelList"/>
    <dgm:cxn modelId="{8C2DBC5D-590F-4AD2-88DE-DD43B9111A48}" type="presOf" srcId="{5E2B9250-EE13-493F-AD97-43413240C3F6}" destId="{5E385C0E-2619-4475-B59B-31BFE884EF35}" srcOrd="0" destOrd="0" presId="urn:microsoft.com/office/officeart/2018/5/layout/IconCircleLabelList"/>
    <dgm:cxn modelId="{1263065E-6FAE-41DF-9BB1-022A54F54F8F}" srcId="{29531416-4414-42FF-9E04-C47A43F93579}" destId="{5E2B9250-EE13-493F-AD97-43413240C3F6}" srcOrd="1" destOrd="0" parTransId="{91921358-4EB5-4C6C-A31C-7E1F586BCE55}" sibTransId="{91686F79-E22C-4EBB-8C43-349E690B5A0E}"/>
    <dgm:cxn modelId="{FBF75E65-E50D-4A7B-B626-C0210B414D70}" type="presOf" srcId="{9C788625-E7D4-4663-A996-D8557E61BA5C}" destId="{25CD36D1-BE62-46E6-91A8-3F6BA74B6295}" srcOrd="0" destOrd="0" presId="urn:microsoft.com/office/officeart/2018/5/layout/IconCircleLabelList"/>
    <dgm:cxn modelId="{9C874746-C30F-4709-A0C5-7492F81FC00B}" srcId="{29531416-4414-42FF-9E04-C47A43F93579}" destId="{204DD5F7-EB8D-4F86-AD12-3E6854D0EC0A}" srcOrd="2" destOrd="0" parTransId="{53DAE7AF-D1D2-47EC-9824-FDBDA79C1DC7}" sibTransId="{6535AB7B-C856-49AB-8239-A82F5AC8B99F}"/>
    <dgm:cxn modelId="{0FAC8280-158C-4D2C-94AC-ABC23B2F9F84}" type="presOf" srcId="{53B0DED6-1CC8-4145-9A93-02C24D7767CF}" destId="{9CD8B917-CF69-4B71-B429-45D5A8FE6D57}" srcOrd="0" destOrd="0" presId="urn:microsoft.com/office/officeart/2018/5/layout/IconCircleLabelList"/>
    <dgm:cxn modelId="{23FBF293-5504-41C0-860F-06C04A410462}" type="presOf" srcId="{29531416-4414-42FF-9E04-C47A43F93579}" destId="{899E6CE7-387A-4652-8080-69245D453394}" srcOrd="0" destOrd="0" presId="urn:microsoft.com/office/officeart/2018/5/layout/IconCircleLabelList"/>
    <dgm:cxn modelId="{44329DCF-A163-46AE-B806-6C2FF77F33AD}" srcId="{29531416-4414-42FF-9E04-C47A43F93579}" destId="{DDE6ED2F-0C72-4132-A214-CD6AC2787C2D}" srcOrd="0" destOrd="0" parTransId="{E2E3D4C4-9B17-416E-A702-244DC8F022A4}" sibTransId="{5A0F7057-A473-4F0B-8592-4DE14AEC8938}"/>
    <dgm:cxn modelId="{88A0DAE9-87DD-4393-B2DC-D0799ED93A25}" srcId="{29531416-4414-42FF-9E04-C47A43F93579}" destId="{53B0DED6-1CC8-4145-9A93-02C24D7767CF}" srcOrd="4" destOrd="0" parTransId="{C2B9DE1E-65D9-4B9B-AAF7-33DC1D0B60C2}" sibTransId="{28DF41C7-DD17-4412-8905-DA103E40AA0A}"/>
    <dgm:cxn modelId="{C8A734F2-09B7-486A-86F2-5A82F6340B80}" type="presOf" srcId="{204DD5F7-EB8D-4F86-AD12-3E6854D0EC0A}" destId="{BF0EA7D1-AB97-40A6-BD65-CF00BF524471}" srcOrd="0" destOrd="0" presId="urn:microsoft.com/office/officeart/2018/5/layout/IconCircleLabelList"/>
    <dgm:cxn modelId="{1CE18A32-07DF-49F6-8D81-24A241A044D8}" type="presParOf" srcId="{899E6CE7-387A-4652-8080-69245D453394}" destId="{674A8730-4CB2-46AF-A2FA-5E8A73FE3DFD}" srcOrd="0" destOrd="0" presId="urn:microsoft.com/office/officeart/2018/5/layout/IconCircleLabelList"/>
    <dgm:cxn modelId="{90618DB1-8DD7-4D8F-BBF1-A1EC6CD8C534}" type="presParOf" srcId="{674A8730-4CB2-46AF-A2FA-5E8A73FE3DFD}" destId="{1F0FE994-98E8-459D-875E-A0A2BBCF8E7B}" srcOrd="0" destOrd="0" presId="urn:microsoft.com/office/officeart/2018/5/layout/IconCircleLabelList"/>
    <dgm:cxn modelId="{F523BE89-2B01-4DCA-97AF-A34D46B74F15}" type="presParOf" srcId="{674A8730-4CB2-46AF-A2FA-5E8A73FE3DFD}" destId="{6FD36B1F-4BF0-4B83-A02C-CD7D95490C00}" srcOrd="1" destOrd="0" presId="urn:microsoft.com/office/officeart/2018/5/layout/IconCircleLabelList"/>
    <dgm:cxn modelId="{9FF73801-7147-4452-AAD8-19EAE27A7B65}" type="presParOf" srcId="{674A8730-4CB2-46AF-A2FA-5E8A73FE3DFD}" destId="{D575340A-AF00-4F37-A17B-FA1B62EFB01C}" srcOrd="2" destOrd="0" presId="urn:microsoft.com/office/officeart/2018/5/layout/IconCircleLabelList"/>
    <dgm:cxn modelId="{28AC0AA8-4F62-47CB-AA72-E94EE211F186}" type="presParOf" srcId="{674A8730-4CB2-46AF-A2FA-5E8A73FE3DFD}" destId="{4B8F4C3C-E2AE-4A38-832C-D3473003EBA4}" srcOrd="3" destOrd="0" presId="urn:microsoft.com/office/officeart/2018/5/layout/IconCircleLabelList"/>
    <dgm:cxn modelId="{B6CBA469-14E3-49E6-A55A-AAC74588353A}" type="presParOf" srcId="{899E6CE7-387A-4652-8080-69245D453394}" destId="{EC2FF576-B1F4-4D48-B00A-AF9D9C1697C6}" srcOrd="1" destOrd="0" presId="urn:microsoft.com/office/officeart/2018/5/layout/IconCircleLabelList"/>
    <dgm:cxn modelId="{619EB1E5-7F20-4D39-9D38-A1C1DE070DD6}" type="presParOf" srcId="{899E6CE7-387A-4652-8080-69245D453394}" destId="{EAB03A2A-3799-4B48-9B56-1B5C15C14E22}" srcOrd="2" destOrd="0" presId="urn:microsoft.com/office/officeart/2018/5/layout/IconCircleLabelList"/>
    <dgm:cxn modelId="{066D18EB-531E-4567-962A-2CD9C2C0894D}" type="presParOf" srcId="{EAB03A2A-3799-4B48-9B56-1B5C15C14E22}" destId="{55BFA9B3-092E-4AAD-B2E3-1D33980362C9}" srcOrd="0" destOrd="0" presId="urn:microsoft.com/office/officeart/2018/5/layout/IconCircleLabelList"/>
    <dgm:cxn modelId="{5C8BA146-50B3-45FB-B6A9-C1C7AC10AF87}" type="presParOf" srcId="{EAB03A2A-3799-4B48-9B56-1B5C15C14E22}" destId="{BA0C24CB-F53F-4F0A-B3AF-5B2F7A65B303}" srcOrd="1" destOrd="0" presId="urn:microsoft.com/office/officeart/2018/5/layout/IconCircleLabelList"/>
    <dgm:cxn modelId="{1036E9C2-8057-4826-B980-B25A30AD9E25}" type="presParOf" srcId="{EAB03A2A-3799-4B48-9B56-1B5C15C14E22}" destId="{666CCADB-AAA7-4983-85BB-327ACA0B19DF}" srcOrd="2" destOrd="0" presId="urn:microsoft.com/office/officeart/2018/5/layout/IconCircleLabelList"/>
    <dgm:cxn modelId="{5DCF9F4A-0130-4870-BDA5-302269F600D4}" type="presParOf" srcId="{EAB03A2A-3799-4B48-9B56-1B5C15C14E22}" destId="{5E385C0E-2619-4475-B59B-31BFE884EF35}" srcOrd="3" destOrd="0" presId="urn:microsoft.com/office/officeart/2018/5/layout/IconCircleLabelList"/>
    <dgm:cxn modelId="{4B35B590-426A-404B-947D-BFF64E763E5A}" type="presParOf" srcId="{899E6CE7-387A-4652-8080-69245D453394}" destId="{8F6B1A29-4753-4572-8BB4-311B38501359}" srcOrd="3" destOrd="0" presId="urn:microsoft.com/office/officeart/2018/5/layout/IconCircleLabelList"/>
    <dgm:cxn modelId="{24D73297-46EB-4061-993A-466B7C57921D}" type="presParOf" srcId="{899E6CE7-387A-4652-8080-69245D453394}" destId="{32314FD7-61D7-418C-B3C6-6E9C32D57CD3}" srcOrd="4" destOrd="0" presId="urn:microsoft.com/office/officeart/2018/5/layout/IconCircleLabelList"/>
    <dgm:cxn modelId="{BD64CF29-6309-4D7D-BB3D-D581AFE3FC41}" type="presParOf" srcId="{32314FD7-61D7-418C-B3C6-6E9C32D57CD3}" destId="{81D420C6-FEBA-48BA-81B9-0FFAB866BFD4}" srcOrd="0" destOrd="0" presId="urn:microsoft.com/office/officeart/2018/5/layout/IconCircleLabelList"/>
    <dgm:cxn modelId="{9C4CA647-F53C-481E-9B92-5F924961A08E}" type="presParOf" srcId="{32314FD7-61D7-418C-B3C6-6E9C32D57CD3}" destId="{36FF686F-6508-4756-9544-C00E215F0A7F}" srcOrd="1" destOrd="0" presId="urn:microsoft.com/office/officeart/2018/5/layout/IconCircleLabelList"/>
    <dgm:cxn modelId="{03FE248A-8197-4D9E-AEB8-CA2504030A86}" type="presParOf" srcId="{32314FD7-61D7-418C-B3C6-6E9C32D57CD3}" destId="{012BC984-EDC4-4DF6-A18A-5F573B4CB9CA}" srcOrd="2" destOrd="0" presId="urn:microsoft.com/office/officeart/2018/5/layout/IconCircleLabelList"/>
    <dgm:cxn modelId="{BB95A8BE-EAB9-48C6-A4D4-ED5D80B2558E}" type="presParOf" srcId="{32314FD7-61D7-418C-B3C6-6E9C32D57CD3}" destId="{BF0EA7D1-AB97-40A6-BD65-CF00BF524471}" srcOrd="3" destOrd="0" presId="urn:microsoft.com/office/officeart/2018/5/layout/IconCircleLabelList"/>
    <dgm:cxn modelId="{7DD8828E-88BC-4DED-BAA2-41A29DA3B322}" type="presParOf" srcId="{899E6CE7-387A-4652-8080-69245D453394}" destId="{D0662E98-AB0B-4694-852C-960A96C85A52}" srcOrd="5" destOrd="0" presId="urn:microsoft.com/office/officeart/2018/5/layout/IconCircleLabelList"/>
    <dgm:cxn modelId="{30424110-F841-4FCE-BD5D-EFF928EC87F8}" type="presParOf" srcId="{899E6CE7-387A-4652-8080-69245D453394}" destId="{3DD58ED7-4BC7-48EA-B700-4840942558D2}" srcOrd="6" destOrd="0" presId="urn:microsoft.com/office/officeart/2018/5/layout/IconCircleLabelList"/>
    <dgm:cxn modelId="{C276F27F-DFB0-4537-8F4E-304E99CA80C5}" type="presParOf" srcId="{3DD58ED7-4BC7-48EA-B700-4840942558D2}" destId="{18A43A71-B884-49FF-A45F-46F937853031}" srcOrd="0" destOrd="0" presId="urn:microsoft.com/office/officeart/2018/5/layout/IconCircleLabelList"/>
    <dgm:cxn modelId="{6EB43438-79FE-45E0-BEA2-5EEE3CACFDEA}" type="presParOf" srcId="{3DD58ED7-4BC7-48EA-B700-4840942558D2}" destId="{79384776-570E-4F04-B317-78DD7C3D5A97}" srcOrd="1" destOrd="0" presId="urn:microsoft.com/office/officeart/2018/5/layout/IconCircleLabelList"/>
    <dgm:cxn modelId="{91FD868A-57F7-4F3B-AF57-560D7D0948C2}" type="presParOf" srcId="{3DD58ED7-4BC7-48EA-B700-4840942558D2}" destId="{11AE1415-283E-4C0B-BBD6-8278A9DDD561}" srcOrd="2" destOrd="0" presId="urn:microsoft.com/office/officeart/2018/5/layout/IconCircleLabelList"/>
    <dgm:cxn modelId="{80723D6F-74FF-40A3-806A-8AFED0B60113}" type="presParOf" srcId="{3DD58ED7-4BC7-48EA-B700-4840942558D2}" destId="{25CD36D1-BE62-46E6-91A8-3F6BA74B6295}" srcOrd="3" destOrd="0" presId="urn:microsoft.com/office/officeart/2018/5/layout/IconCircleLabelList"/>
    <dgm:cxn modelId="{99197948-3CC8-46B4-9FE7-B7412C9216C6}" type="presParOf" srcId="{899E6CE7-387A-4652-8080-69245D453394}" destId="{3D87655D-112B-4E57-ABAF-E6125555DB1A}" srcOrd="7" destOrd="0" presId="urn:microsoft.com/office/officeart/2018/5/layout/IconCircleLabelList"/>
    <dgm:cxn modelId="{CE636FEB-8C90-42B9-AD59-C7E05941F11C}" type="presParOf" srcId="{899E6CE7-387A-4652-8080-69245D453394}" destId="{EA5E641B-0A5F-4926-9D76-5718CBA15030}" srcOrd="8" destOrd="0" presId="urn:microsoft.com/office/officeart/2018/5/layout/IconCircleLabelList"/>
    <dgm:cxn modelId="{A7CCEB52-0460-4EF0-8A0F-3B74B4A90D2B}" type="presParOf" srcId="{EA5E641B-0A5F-4926-9D76-5718CBA15030}" destId="{74AB08F4-83A8-4C96-AD75-A5662E08A407}" srcOrd="0" destOrd="0" presId="urn:microsoft.com/office/officeart/2018/5/layout/IconCircleLabelList"/>
    <dgm:cxn modelId="{A0B34068-99DD-4AE3-9F55-44280C517B98}" type="presParOf" srcId="{EA5E641B-0A5F-4926-9D76-5718CBA15030}" destId="{86B17304-D703-45B3-89A5-F33DEFEF7D20}" srcOrd="1" destOrd="0" presId="urn:microsoft.com/office/officeart/2018/5/layout/IconCircleLabelList"/>
    <dgm:cxn modelId="{7AE07B98-041D-4134-8141-E15DBBA23265}" type="presParOf" srcId="{EA5E641B-0A5F-4926-9D76-5718CBA15030}" destId="{16B0EE55-8AAC-4302-9B9C-062E4E80E91B}" srcOrd="2" destOrd="0" presId="urn:microsoft.com/office/officeart/2018/5/layout/IconCircleLabelList"/>
    <dgm:cxn modelId="{818B2C59-A714-46FA-9F7E-5AFB7D5FDFA3}" type="presParOf" srcId="{EA5E641B-0A5F-4926-9D76-5718CBA15030}" destId="{9CD8B917-CF69-4B71-B429-45D5A8FE6D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FE994-98E8-459D-875E-A0A2BBCF8E7B}">
      <dsp:nvSpPr>
        <dsp:cNvPr id="0" name=""/>
        <dsp:cNvSpPr/>
      </dsp:nvSpPr>
      <dsp:spPr>
        <a:xfrm>
          <a:off x="636320" y="719431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36B1F-4BF0-4B83-A02C-CD7D95490C00}">
      <dsp:nvSpPr>
        <dsp:cNvPr id="0" name=""/>
        <dsp:cNvSpPr/>
      </dsp:nvSpPr>
      <dsp:spPr>
        <a:xfrm>
          <a:off x="870320" y="95343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F4C3C-E2AE-4A38-832C-D3473003EBA4}">
      <dsp:nvSpPr>
        <dsp:cNvPr id="0" name=""/>
        <dsp:cNvSpPr/>
      </dsp:nvSpPr>
      <dsp:spPr>
        <a:xfrm>
          <a:off x="285320" y="215943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Sprint Planning: Select tasks from backlog </a:t>
          </a:r>
        </a:p>
      </dsp:txBody>
      <dsp:txXfrm>
        <a:off x="285320" y="2159431"/>
        <a:ext cx="1800000" cy="720000"/>
      </dsp:txXfrm>
    </dsp:sp>
    <dsp:sp modelId="{55BFA9B3-092E-4AAD-B2E3-1D33980362C9}">
      <dsp:nvSpPr>
        <dsp:cNvPr id="0" name=""/>
        <dsp:cNvSpPr/>
      </dsp:nvSpPr>
      <dsp:spPr>
        <a:xfrm>
          <a:off x="2751320" y="719431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C24CB-F53F-4F0A-B3AF-5B2F7A65B303}">
      <dsp:nvSpPr>
        <dsp:cNvPr id="0" name=""/>
        <dsp:cNvSpPr/>
      </dsp:nvSpPr>
      <dsp:spPr>
        <a:xfrm>
          <a:off x="2985320" y="95343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85C0E-2619-4475-B59B-31BFE884EF35}">
      <dsp:nvSpPr>
        <dsp:cNvPr id="0" name=""/>
        <dsp:cNvSpPr/>
      </dsp:nvSpPr>
      <dsp:spPr>
        <a:xfrm>
          <a:off x="2400320" y="215943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Development: Build features in sprints</a:t>
          </a:r>
        </a:p>
      </dsp:txBody>
      <dsp:txXfrm>
        <a:off x="2400320" y="2159431"/>
        <a:ext cx="1800000" cy="720000"/>
      </dsp:txXfrm>
    </dsp:sp>
    <dsp:sp modelId="{81D420C6-FEBA-48BA-81B9-0FFAB866BFD4}">
      <dsp:nvSpPr>
        <dsp:cNvPr id="0" name=""/>
        <dsp:cNvSpPr/>
      </dsp:nvSpPr>
      <dsp:spPr>
        <a:xfrm>
          <a:off x="4866320" y="719431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F686F-6508-4756-9544-C00E215F0A7F}">
      <dsp:nvSpPr>
        <dsp:cNvPr id="0" name=""/>
        <dsp:cNvSpPr/>
      </dsp:nvSpPr>
      <dsp:spPr>
        <a:xfrm>
          <a:off x="5100320" y="95343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EA7D1-AB97-40A6-BD65-CF00BF524471}">
      <dsp:nvSpPr>
        <dsp:cNvPr id="0" name=""/>
        <dsp:cNvSpPr/>
      </dsp:nvSpPr>
      <dsp:spPr>
        <a:xfrm>
          <a:off x="4515320" y="215943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Testing: Continuous validation</a:t>
          </a:r>
        </a:p>
      </dsp:txBody>
      <dsp:txXfrm>
        <a:off x="4515320" y="2159431"/>
        <a:ext cx="1800000" cy="720000"/>
      </dsp:txXfrm>
    </dsp:sp>
    <dsp:sp modelId="{18A43A71-B884-49FF-A45F-46F937853031}">
      <dsp:nvSpPr>
        <dsp:cNvPr id="0" name=""/>
        <dsp:cNvSpPr/>
      </dsp:nvSpPr>
      <dsp:spPr>
        <a:xfrm>
          <a:off x="6981320" y="719431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84776-570E-4F04-B317-78DD7C3D5A97}">
      <dsp:nvSpPr>
        <dsp:cNvPr id="0" name=""/>
        <dsp:cNvSpPr/>
      </dsp:nvSpPr>
      <dsp:spPr>
        <a:xfrm>
          <a:off x="7215320" y="95343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D36D1-BE62-46E6-91A8-3F6BA74B6295}">
      <dsp:nvSpPr>
        <dsp:cNvPr id="0" name=""/>
        <dsp:cNvSpPr/>
      </dsp:nvSpPr>
      <dsp:spPr>
        <a:xfrm>
          <a:off x="6630320" y="215943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Review: Present completed work</a:t>
          </a:r>
        </a:p>
      </dsp:txBody>
      <dsp:txXfrm>
        <a:off x="6630320" y="2159431"/>
        <a:ext cx="1800000" cy="720000"/>
      </dsp:txXfrm>
    </dsp:sp>
    <dsp:sp modelId="{74AB08F4-83A8-4C96-AD75-A5662E08A407}">
      <dsp:nvSpPr>
        <dsp:cNvPr id="0" name=""/>
        <dsp:cNvSpPr/>
      </dsp:nvSpPr>
      <dsp:spPr>
        <a:xfrm>
          <a:off x="9096320" y="719431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17304-D703-45B3-89A5-F33DEFEF7D20}">
      <dsp:nvSpPr>
        <dsp:cNvPr id="0" name=""/>
        <dsp:cNvSpPr/>
      </dsp:nvSpPr>
      <dsp:spPr>
        <a:xfrm>
          <a:off x="9330320" y="953431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8B917-CF69-4B71-B429-45D5A8FE6D57}">
      <dsp:nvSpPr>
        <dsp:cNvPr id="0" name=""/>
        <dsp:cNvSpPr/>
      </dsp:nvSpPr>
      <dsp:spPr>
        <a:xfrm>
          <a:off x="8745320" y="215943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Retrospective: Improve process</a:t>
          </a:r>
        </a:p>
      </dsp:txBody>
      <dsp:txXfrm>
        <a:off x="8745320" y="2159431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6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1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3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1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5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5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1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42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2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5698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24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28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7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87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0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1A9B1-2F12-4E8E-BD8C-60BB2FBFF170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1F4D1-5562-408D-94E3-1D8A2B8B4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29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9DCE87-7678-6679-7036-E668E85BF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7200" b="1"/>
              <a:t>Sprint Review and Retrospective</a:t>
            </a:r>
            <a:endParaRPr lang="en-US" sz="7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734A3-BAC2-A455-4499-301698445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3933" y="4233672"/>
            <a:ext cx="8144134" cy="1145829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1600"/>
              <a:t>Rishawna Snow</a:t>
            </a:r>
          </a:p>
          <a:p>
            <a:pPr algn="ctr"/>
            <a:r>
              <a:rPr lang="en-US" sz="1600"/>
              <a:t>4/16/2026</a:t>
            </a:r>
          </a:p>
        </p:txBody>
      </p:sp>
    </p:spTree>
    <p:extLst>
      <p:ext uri="{BB962C8B-B14F-4D97-AF65-F5344CB8AC3E}">
        <p14:creationId xmlns:p14="http://schemas.microsoft.com/office/powerpoint/2010/main" val="140118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1032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05188-F442-D126-B5AE-1C117870F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Agile Roles</a:t>
            </a:r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7338F-4771-486C-3BBB-7501BC1D8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3599316"/>
          </a:xfrm>
        </p:spPr>
        <p:txBody>
          <a:bodyPr>
            <a:normAutofit/>
          </a:bodyPr>
          <a:lstStyle/>
          <a:p>
            <a:r>
              <a:rPr lang="en-US" sz="1800"/>
              <a:t>Product Owner: Manages backlog and prioritizes work</a:t>
            </a:r>
          </a:p>
          <a:p>
            <a:endParaRPr lang="en-US" sz="1800"/>
          </a:p>
          <a:p>
            <a:r>
              <a:rPr lang="en-US" sz="1800"/>
              <a:t>Scrum Master: Facilities Scrum and removes blockers</a:t>
            </a:r>
          </a:p>
          <a:p>
            <a:endParaRPr lang="en-US" sz="1800"/>
          </a:p>
          <a:p>
            <a:r>
              <a:rPr lang="en-US" sz="1800"/>
              <a:t>Development Team: Build and delivers products increments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F3E8CF-6E36-16D7-F118-4CE4170E4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805838"/>
            <a:ext cx="6303134" cy="5215843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46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8B46-246C-F6AD-8146-710E6AEAD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Agile Phases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B35AA5-D5DC-8B85-15AC-F6B2A56D7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923561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714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1A60B-C3DE-6C50-7849-972F66D8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Waterfall Model</a:t>
            </a:r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99A8-4433-B76D-5073-CC85AA5A3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Linear Process:</a:t>
            </a:r>
          </a:p>
          <a:p>
            <a:r>
              <a:rPr lang="en-US" sz="1400">
                <a:solidFill>
                  <a:srgbClr val="FFFFFF"/>
                </a:solidFill>
              </a:rPr>
              <a:t>Requirements </a:t>
            </a:r>
          </a:p>
          <a:p>
            <a:r>
              <a:rPr lang="en-US" sz="1400">
                <a:solidFill>
                  <a:srgbClr val="FFFFFF"/>
                </a:solidFill>
              </a:rPr>
              <a:t>Design</a:t>
            </a:r>
          </a:p>
          <a:p>
            <a:r>
              <a:rPr lang="en-US" sz="1400">
                <a:solidFill>
                  <a:srgbClr val="FFFFFF"/>
                </a:solidFill>
              </a:rPr>
              <a:t>Development</a:t>
            </a:r>
          </a:p>
          <a:p>
            <a:r>
              <a:rPr lang="en-US" sz="1400">
                <a:solidFill>
                  <a:srgbClr val="FFFFFF"/>
                </a:solidFill>
              </a:rPr>
              <a:t>Testing</a:t>
            </a:r>
          </a:p>
          <a:p>
            <a:r>
              <a:rPr lang="en-US" sz="1400">
                <a:solidFill>
                  <a:srgbClr val="FFFFFF"/>
                </a:solidFill>
              </a:rPr>
              <a:t>Deplyment</a:t>
            </a:r>
          </a:p>
          <a:p>
            <a:endParaRPr lang="en-US" sz="1400">
              <a:solidFill>
                <a:srgbClr val="FFFFFF"/>
              </a:solidFill>
            </a:endParaRPr>
          </a:p>
          <a:p>
            <a:r>
              <a:rPr lang="en-US" sz="1400">
                <a:solidFill>
                  <a:srgbClr val="FFFFFF"/>
                </a:solidFill>
              </a:rPr>
              <a:t>Changes are difficult once a phase is complete. </a:t>
            </a:r>
          </a:p>
          <a:p>
            <a:endParaRPr lang="en-US" sz="1400">
              <a:solidFill>
                <a:srgbClr val="FFFFFF"/>
              </a:solidFill>
            </a:endParaRPr>
          </a:p>
        </p:txBody>
      </p:sp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aterfall Methodology. Waterfall Methodology | by Chathmini ...">
            <a:extLst>
              <a:ext uri="{FF2B5EF4-FFF2-40B4-BE49-F238E27FC236}">
                <a16:creationId xmlns:a16="http://schemas.microsoft.com/office/drawing/2014/main" id="{D8871DF6-5C63-1D98-9041-FEAA34655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173896"/>
            <a:ext cx="5629268" cy="4503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252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1" name="Picture 3080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74499-CD23-5BD1-3562-8A721BBF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Agile vs Waterfall	</a:t>
            </a:r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C91B0-F633-DF14-8B3F-756B6B3A3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136123" cy="3599316"/>
          </a:xfrm>
        </p:spPr>
        <p:txBody>
          <a:bodyPr>
            <a:normAutofit/>
          </a:bodyPr>
          <a:lstStyle/>
          <a:p>
            <a:r>
              <a:rPr lang="en-US" sz="1800"/>
              <a:t>Agile: Flexibilty, iterative, continuous feedback</a:t>
            </a:r>
          </a:p>
          <a:p>
            <a:r>
              <a:rPr lang="en-US" sz="1800"/>
              <a:t>Waterfall: Structured , sequential, limited flexibility </a:t>
            </a:r>
          </a:p>
          <a:p>
            <a:endParaRPr lang="en-US" sz="1800"/>
          </a:p>
          <a:p>
            <a:endParaRPr lang="en-US" sz="1800"/>
          </a:p>
        </p:txBody>
      </p:sp>
      <p:pic>
        <p:nvPicPr>
          <p:cNvPr id="3074" name="Picture 2" descr="Waterfall vs. Agile: Which Methodology is Right for Your Project?">
            <a:extLst>
              <a:ext uri="{FF2B5EF4-FFF2-40B4-BE49-F238E27FC236}">
                <a16:creationId xmlns:a16="http://schemas.microsoft.com/office/drawing/2014/main" id="{57DAEB9E-47DB-2303-7420-AF25B1597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6090" y="915051"/>
            <a:ext cx="6303134" cy="4997417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41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055289-E0C6-4BD3-83C1-D3C30593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75374-BD7C-33A8-01EE-2D1467BC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47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0E302E-D9CD-4301-A67C-2F0F4379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457133-9802-4229-B919-FF91AE235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174CBE-3C8C-4936-BADC-26BFB4F0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BD990-1651-603D-9087-9B83CC5F0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/>
              <a:t>Choosing the Right Approach	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CBD692-4D03-4764-98E3-F9578385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32BC668-4D51-4090-89E3-5613B832E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EAAB7-FC10-35A4-EA70-251F6C862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395060"/>
          </a:xfrm>
        </p:spPr>
        <p:txBody>
          <a:bodyPr anchor="ctr">
            <a:normAutofit/>
          </a:bodyPr>
          <a:lstStyle/>
          <a:p>
            <a:r>
              <a:rPr lang="en-US" sz="2000"/>
              <a:t>Consider: Project complexity</a:t>
            </a:r>
          </a:p>
          <a:p>
            <a:r>
              <a:rPr lang="en-US" sz="2000"/>
              <a:t>Need for flexibility</a:t>
            </a:r>
          </a:p>
          <a:p>
            <a:r>
              <a:rPr lang="en-US" sz="2000"/>
              <a:t>Stakeholder involvement</a:t>
            </a:r>
          </a:p>
          <a:p>
            <a:r>
              <a:rPr lang="en-US" sz="2000"/>
              <a:t>Timeline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/>
              <a:t>(Agile worked best for SNHU Travel due to changing requirements)</a:t>
            </a:r>
          </a:p>
        </p:txBody>
      </p:sp>
    </p:spTree>
    <p:extLst>
      <p:ext uri="{BB962C8B-B14F-4D97-AF65-F5344CB8AC3E}">
        <p14:creationId xmlns:p14="http://schemas.microsoft.com/office/powerpoint/2010/main" val="811912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C934-7B42-F6C1-BDE0-515BC9E3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6586-9BFC-AE41-1EBD-1E5B9856D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Schwaber, K., &amp; Sutherland, J. (2020). The Scrum Guide.</a:t>
            </a:r>
          </a:p>
          <a:p>
            <a:r>
              <a:rPr lang="en-US" dirty="0"/>
              <a:t>VersionOne. (2021). State of Agile Report</a:t>
            </a:r>
          </a:p>
          <a:p>
            <a:r>
              <a:rPr lang="en-US" dirty="0"/>
              <a:t>PMI. (2021). Pulse of the Profession.</a:t>
            </a:r>
          </a:p>
          <a:p>
            <a:r>
              <a:rPr lang="en-US" dirty="0"/>
              <a:t>EBSCO eBook (Scrum framework source)</a:t>
            </a:r>
          </a:p>
          <a:p>
            <a:r>
              <a:rPr lang="en-US" dirty="0"/>
              <a:t>Segue Tech</a:t>
            </a:r>
          </a:p>
        </p:txBody>
      </p:sp>
    </p:spTree>
    <p:extLst>
      <p:ext uri="{BB962C8B-B14F-4D97-AF65-F5344CB8AC3E}">
        <p14:creationId xmlns:p14="http://schemas.microsoft.com/office/powerpoint/2010/main" val="3804240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27</TotalTime>
  <Words>173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Sprint Review and Retrospective</vt:lpstr>
      <vt:lpstr>Agile Roles</vt:lpstr>
      <vt:lpstr>Agile Phases</vt:lpstr>
      <vt:lpstr>Waterfall Model</vt:lpstr>
      <vt:lpstr>Agile vs Waterfall </vt:lpstr>
      <vt:lpstr>Choosing the Right Approach </vt:lpstr>
      <vt:lpstr>References </vt:lpstr>
    </vt:vector>
  </TitlesOfParts>
  <Company>State of Connecticut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Snow, Rishawna</dc:creator>
  <cp:lastModifiedBy>Snow, Rishawna</cp:lastModifiedBy>
  <cp:revision>1</cp:revision>
  <dcterms:created xsi:type="dcterms:W3CDTF">2026-04-17T02:37:41Z</dcterms:created>
  <dcterms:modified xsi:type="dcterms:W3CDTF">2026-04-17T03:04:49Z</dcterms:modified>
</cp:coreProperties>
</file>